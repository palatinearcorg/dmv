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4" r:id="rId6"/>
    <p:sldId id="265" r:id="rId7"/>
    <p:sldId id="259" r:id="rId8"/>
    <p:sldId id="267" r:id="rId9"/>
    <p:sldId id="26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A3"/>
    <a:srgbClr val="03A1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288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2dqby2mJcc" TargetMode="External"/><Relationship Id="rId2" Type="http://schemas.openxmlformats.org/officeDocument/2006/relationships/hyperlink" Target="https://www.youtube.com/shorts/LetYFctqcv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latineArcOrg/DMV/" TargetMode="External"/><Relationship Id="rId2" Type="http://schemas.openxmlformats.org/officeDocument/2006/relationships/hyperlink" Target="https://github.com/PalatineArcOrg/DMV/release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40440"/>
            <a:ext cx="4389120" cy="365760"/>
          </a:xfrm>
          <a:prstGeom prst="roundRect">
            <a:avLst>
              <a:gd name="adj" fmla="val 4000"/>
            </a:avLst>
          </a:prstGeom>
          <a:solidFill>
            <a:srgbClr val="1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9422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9945FF"/>
                </a:solidFill>
                <a:latin typeface="Calibri"/>
              </a:rPr>
              <a:t>MONOLITH  —  SOLANA MOBILE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1828800"/>
            <a:ext cx="9769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dirty="0">
                <a:solidFill>
                  <a:srgbClr val="FFFFFF"/>
                </a:solidFill>
                <a:latin typeface="Calibri"/>
              </a:rPr>
              <a:t>Your crypto should outlive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3025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0FFA3"/>
                </a:solidFill>
                <a:latin typeface="Calibri"/>
              </a:rPr>
              <a:t>Dead Man’s Vault </a:t>
            </a:r>
            <a:r>
              <a:rPr sz="2200" b="0" dirty="0">
                <a:solidFill>
                  <a:srgbClr val="AAAAAA"/>
                </a:solidFill>
                <a:latin typeface="Calibri"/>
              </a:rPr>
              <a:t>— autonomous crypto inheritance for Solana Seeker.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Calibri"/>
              </a:rPr>
              <a:t>by </a:t>
            </a:r>
            <a:r>
              <a:rPr lang="en-GB" sz="1300" b="0" dirty="0" err="1">
                <a:solidFill>
                  <a:srgbClr val="666666"/>
                </a:solidFill>
                <a:latin typeface="Calibri"/>
              </a:rPr>
              <a:t>Romulus.sol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GB" sz="1300" b="0" dirty="0">
                <a:solidFill>
                  <a:srgbClr val="666666"/>
                </a:solidFill>
                <a:latin typeface="Calibri"/>
              </a:rPr>
              <a:t>from </a:t>
            </a:r>
            <a:r>
              <a:rPr lang="en-GB" sz="1300" b="0" dirty="0" err="1">
                <a:solidFill>
                  <a:srgbClr val="666666"/>
                </a:solidFill>
                <a:latin typeface="Calibri"/>
              </a:rPr>
              <a:t>PalatineArc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  ·   dmv.palatinearc.com   ·   github.com/</a:t>
            </a:r>
            <a:r>
              <a:rPr sz="1300" b="0" dirty="0" err="1">
                <a:solidFill>
                  <a:srgbClr val="666666"/>
                </a:solidFill>
                <a:latin typeface="Calibri"/>
              </a:rPr>
              <a:t>PalatineArcOrg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/DMV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097280"/>
            <a:ext cx="97411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>
                <a:solidFill>
                  <a:srgbClr val="FFFFFF"/>
                </a:solidFill>
                <a:latin typeface="Calibri"/>
              </a:rPr>
              <a:t>Crypto doesn't have a "next of kin"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848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AAAAA"/>
                </a:solidFill>
                <a:latin typeface="Calibri"/>
              </a:rPr>
              <a:t>Millions in crypto assets are lost every year because there's no decentralized</a:t>
            </a:r>
            <a:br>
              <a:rPr dirty="0"/>
            </a:br>
            <a:r>
              <a:rPr sz="1600" b="0" dirty="0">
                <a:solidFill>
                  <a:srgbClr val="AAAAAA"/>
                </a:solidFill>
                <a:latin typeface="Calibri"/>
              </a:rPr>
              <a:t>way to pass them on. Traditional inheritance doesn't work for self-custody.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FFA3"/>
                </a:solidFill>
                <a:latin typeface="Calibri"/>
              </a:rPr>
              <a:t>$140B+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Estimated value of inaccessible Bitcoin.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Keys lost forever.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  <a:latin typeface="Calibri"/>
              </a:rPr>
              <a:t>4M+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Bitcoin wallets inactive 5+ years.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Many owners may no longer be alive.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Decentralized inheritance solutions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on Solana Mobile. Until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Set it once. Live your life. They inherit.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3715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AAAAA"/>
                </a:solidFill>
                <a:latin typeface="Calibri"/>
              </a:rPr>
              <a:t>Dead Man’s Vault is an autonomous inheritance protocol on Solana Seeker.</a:t>
            </a:r>
            <a:br>
              <a:rPr dirty="0"/>
            </a:br>
            <a:r>
              <a:rPr sz="1600" b="0" dirty="0">
                <a:solidFill>
                  <a:srgbClr val="AAAAAA"/>
                </a:solidFill>
                <a:latin typeface="Calibri"/>
              </a:rPr>
              <a:t>No lawyers, no custodians, no backend servers. Just you, your phone, and the blockchain.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FFA3"/>
                </a:solidFill>
                <a:latin typeface="Calibri"/>
              </a:rPr>
              <a:t>Set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Create your vault. Add beneficiaries.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Deposit SOL and SPL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  <a:latin typeface="Calibri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Tap to confirm a heartbeat.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Weekly or monthly — your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  <a:latin typeface="Calibri"/>
              </a:rPr>
              <a:t>Inherit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Stop responding and the protocol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distributes your assets on-chain.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Five stages. One tap to stay alive.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Set up your vault once. Confirm a heartbeat periodically. If you stop, the protocol takes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9487" y="3017520"/>
            <a:ext cx="192024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236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Heartbeat confirmed.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All clear. Assets 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Weekly / monthly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260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32607" y="301752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548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548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548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Overdue. Notifications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sent to owner.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548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3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72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35727" y="3017520"/>
            <a:ext cx="19202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860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860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860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No response. Frequency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increases.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60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7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884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38847" y="3017520"/>
            <a:ext cx="19202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172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172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Final countdown.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Hourly notifications.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172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7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196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41967" y="3017520"/>
            <a:ext cx="1920240" cy="457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2484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1B1B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84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484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Irreversible. Assets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distributed on-chain.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484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Autonomous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SEE IT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Watch it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From vault creation to autonomous asset distribution — the full lifecycle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on a Solana Seeker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Setup &amp;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Create vault, set heartbeat interval,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add beneficiaries with share splits,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deposit SOL and SPL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dirty="0">
                <a:solidFill>
                  <a:schemeClr val="bg1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 app showcase</a:t>
            </a:r>
            <a:br>
              <a:rPr lang="en-GB" sz="1200" b="0" dirty="0">
                <a:solidFill>
                  <a:srgbClr val="AAAAAA"/>
                </a:solidFill>
                <a:latin typeface="Calibri"/>
              </a:rPr>
            </a:br>
            <a:br>
              <a:rPr lang="en-GB" sz="1200" b="0" dirty="0">
                <a:solidFill>
                  <a:srgbClr val="AAAAAA"/>
                </a:solidFill>
                <a:latin typeface="Calibri"/>
              </a:rPr>
            </a:br>
            <a:r>
              <a:rPr lang="en-GB" sz="1200" b="0" dirty="0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vault cycle demo</a:t>
            </a:r>
            <a:br>
              <a:rPr dirty="0"/>
            </a:br>
            <a:br>
              <a:rPr dirty="0"/>
            </a:br>
            <a:endParaRPr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6C883A-B0E7-8E50-A41F-2C0A9584952E}"/>
              </a:ext>
            </a:extLst>
          </p:cNvPr>
          <p:cNvGrpSpPr/>
          <p:nvPr/>
        </p:nvGrpSpPr>
        <p:grpSpPr>
          <a:xfrm>
            <a:off x="4565174" y="4988542"/>
            <a:ext cx="1420368" cy="301752"/>
            <a:chOff x="4684236" y="4988542"/>
            <a:chExt cx="1420368" cy="301752"/>
          </a:xfrm>
        </p:grpSpPr>
        <p:sp>
          <p:nvSpPr>
            <p:cNvPr id="13" name="Rounded Rectangle 12"/>
            <p:cNvSpPr/>
            <p:nvPr/>
          </p:nvSpPr>
          <p:spPr>
            <a:xfrm>
              <a:off x="4684236" y="4988542"/>
              <a:ext cx="1362456" cy="301752"/>
            </a:xfrm>
            <a:prstGeom prst="roundRect">
              <a:avLst>
                <a:gd name="adj" fmla="val 4000"/>
              </a:avLst>
            </a:prstGeom>
            <a:solidFill>
              <a:srgbClr val="0F152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hlinkClick r:id="rId2"/>
            </p:cNvPr>
            <p:cNvSpPr txBox="1"/>
            <p:nvPr/>
          </p:nvSpPr>
          <p:spPr>
            <a:xfrm>
              <a:off x="4742148" y="4988542"/>
              <a:ext cx="13624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dirty="0">
                  <a:solidFill>
                    <a:srgbClr val="00FFA3"/>
                  </a:solidFill>
                  <a:latin typeface="Calibri"/>
                </a:rPr>
                <a:t>Play </a:t>
              </a:r>
              <a:r>
                <a:rPr lang="en-GB" sz="1000" b="1" dirty="0">
                  <a:solidFill>
                    <a:srgbClr val="00FFA3"/>
                  </a:solidFill>
                  <a:latin typeface="Calibri"/>
                </a:rPr>
                <a:t>Short </a:t>
              </a:r>
              <a:r>
                <a:rPr sz="1000" b="1" dirty="0">
                  <a:solidFill>
                    <a:srgbClr val="00FFA3"/>
                  </a:solidFill>
                  <a:latin typeface="Calibri"/>
                </a:rPr>
                <a:t>Demo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Heartbeat →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Tap to confirm liveness. Miss it,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escalation begins. Stage 4 triggers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autonomous on-chain distribution.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Step 2 →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Full walkthrough: setup   ·   heartbeat   ·   escalation →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10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96389D75-BDCA-CD1D-18B5-27CFD12C2048}"/>
              </a:ext>
            </a:extLst>
          </p:cNvPr>
          <p:cNvSpPr/>
          <p:nvPr/>
        </p:nvSpPr>
        <p:spPr>
          <a:xfrm>
            <a:off x="6084189" y="4988542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hlinkClick r:id="rId3"/>
            <a:extLst>
              <a:ext uri="{FF2B5EF4-FFF2-40B4-BE49-F238E27FC236}">
                <a16:creationId xmlns:a16="http://schemas.microsoft.com/office/drawing/2014/main" id="{A600D8F7-2839-4DC1-2DA4-78067DB40E4D}"/>
              </a:ext>
            </a:extLst>
          </p:cNvPr>
          <p:cNvSpPr txBox="1"/>
          <p:nvPr/>
        </p:nvSpPr>
        <p:spPr>
          <a:xfrm>
            <a:off x="6045073" y="4988542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</a:rPr>
              <a:t>Play </a:t>
            </a:r>
            <a:r>
              <a:rPr lang="en-GB" sz="1000" b="1" dirty="0">
                <a:solidFill>
                  <a:srgbClr val="00FFA3"/>
                </a:solidFill>
                <a:latin typeface="Calibri"/>
              </a:rPr>
              <a:t>Full Vault </a:t>
            </a:r>
            <a:r>
              <a:rPr sz="1000" b="1" dirty="0">
                <a:solidFill>
                  <a:srgbClr val="00FFA3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WHY SOLANA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This only works on Seeker.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09019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98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TEE Hardware Enclave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096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Seeker’s Trusted Execution Environment holds a dedicated agent key that acts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autonomously — no backend, no cloud, no exposed owner wallet. Hardware-level security.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99175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900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Seed Vault MWA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1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Owner authorization through Solana Mobile Wallet Adapter. No browser extensions,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no seed phrases on screen. Hardware-backed signing with a single tap.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331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80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Mobile-First Heartbeat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27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Your phone is with you 24/7. Confirming liveness is as natural as unlocking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your screen. Desktop-only inheritance solutions fail because life isn’t lived at a desk.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94871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70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No Server. No Trust. No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14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Everything runs on-device or on-chain. No infrastructure to maintain, no single point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of failure. If your phone breaks, rotate your agent key from a new device. That’s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45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FFA3"/>
                </a:solidFill>
                <a:latin typeface="Calibri"/>
              </a:rPr>
              <a:t>ONLY POSSIBLE ON SOLANA SEEKER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14008"/>
            <a:ext cx="154076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40905"/>
            <a:ext cx="1540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Seeker TEE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8217" y="5920735"/>
            <a:ext cx="166797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48218" y="5934181"/>
            <a:ext cx="178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Seed Vault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9244" y="5920735"/>
            <a:ext cx="1146065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6128" y="5934181"/>
            <a:ext cx="1146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MWA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8873" y="5920735"/>
            <a:ext cx="130171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0784" y="5934181"/>
            <a:ext cx="1284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Anchor PDA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7767" y="5920735"/>
            <a:ext cx="193756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9176" y="5934181"/>
            <a:ext cx="19761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Helius 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3717" y="5920735"/>
            <a:ext cx="153940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22512" y="5934181"/>
            <a:ext cx="1540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Pyth + Jupiter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41508" y="5920735"/>
            <a:ext cx="119329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41508" y="5934181"/>
            <a:ext cx="11932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On-Chain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WHAT WE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Deployed, tested, and open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TEE-Secured Agent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AAAAAA"/>
                </a:solidFill>
                <a:latin typeface="Calibri"/>
              </a:rPr>
              <a:t>Dedicated agent key in Seeker's hardware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enclave. Handles heartbeats and execution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autonomously. Owner wallet untouched.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Vault PDA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Deposit SOL and SPL tokens into your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vault PDA. Withdraw anytime. At Stage 4,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agent distributes per beneficiary on-chain.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Crash-Proof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 step checkpointed to SQLite before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executing. App crashes, device restarts —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execution resumes where it left 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Live Portfolio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Token balances via Helius DAS, dual-oracle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USD pricing (Pyth + Jupiter), DeFi position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detection across 10 protocols.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On-Chain Whitelist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Program only sends to pre-approved wallets.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Up to 20 beneficiaries with basis-point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share allocation.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Full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 heartbeat, distribution, and state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change on-chain. Execution logs link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directly to Solana Explorer.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What’s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Shipped on Devnet. Mainnet and ecosystem integrations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on the horizon.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Devnet live. 13 instructions, 34 tests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passing. Full open-source release.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Monolith hackathon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Q</a:t>
            </a:r>
            <a:r>
              <a:rPr lang="en-GB" sz="1800" b="1" dirty="0">
                <a:solidFill>
                  <a:srgbClr val="FFFFFF"/>
                </a:solidFill>
                <a:latin typeface="Calibri"/>
              </a:rPr>
              <a:t>2-Q3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Community testing and bug fixes.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Security audit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s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AAAAAA"/>
                </a:solidFill>
                <a:latin typeface="Calibri"/>
              </a:rPr>
              <a:t>Mainnet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deployment.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Solana </a:t>
            </a:r>
            <a:r>
              <a:rPr sz="1200" b="0" dirty="0" err="1">
                <a:solidFill>
                  <a:srgbClr val="AAAAAA"/>
                </a:solidFill>
                <a:latin typeface="Calibri"/>
              </a:rPr>
              <a:t>dApp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Store listing.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809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809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Expanded SPL token coverage. DeFi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position inheritance. Push notification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heartbeat reminders.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Devnet live now   ·   github.com/PalatineArcOrg/DMV   ·   MIT Licensed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>
                <a:solidFill>
                  <a:srgbClr val="FFFFFF"/>
                </a:solidFill>
                <a:latin typeface="Calibri"/>
              </a:rPr>
              <a:t>Built by </a:t>
            </a:r>
            <a:r>
              <a:rPr sz="4200" b="1" dirty="0" err="1">
                <a:solidFill>
                  <a:srgbClr val="FFFFFF"/>
                </a:solidFill>
                <a:latin typeface="Calibri"/>
              </a:rPr>
              <a:t>Romulus.sol</a:t>
            </a:r>
            <a:r>
              <a:rPr lang="en-GB" sz="4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600" b="1" dirty="0">
                <a:solidFill>
                  <a:schemeClr val="accent6"/>
                </a:solidFill>
                <a:latin typeface="Calibri"/>
              </a:rPr>
              <a:t>…and Claude</a:t>
            </a:r>
            <a:endParaRPr sz="4200" b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960120" y="209019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98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Solo Builder,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096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AAAAAA"/>
                </a:solidFill>
                <a:latin typeface="Calibri"/>
              </a:rPr>
              <a:t>Solana developer building across DeFi, gaming, mobile, and security.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End-to-end: Anchor programs, React Native, BOLT ECS, protocol design.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99175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900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Hackathon Track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1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Agent Casino: trust-building primitive for AI agents on Solana. Two agents play,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VRF proves nobody cheated, trust established in one transaction. Ships complete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331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80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27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$140B in Bitcoin is inaccessible because self-custody has no inheritance layer.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This is an inevitable problem for every crypto holder. Someone needs to solve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94871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70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Open Source, Open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14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Full codebase MIT licensed. 34 passing tests. Deployed on Devnet. Built in public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at github.com/PalatineArcOrg/DMV. Accepting contributions and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45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FFA3"/>
                </a:solidFill>
                <a:latin typeface="Calibri"/>
              </a:rPr>
              <a:t>PALATINE ARC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14008"/>
            <a:ext cx="154076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40905"/>
            <a:ext cx="1540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8217" y="5920735"/>
            <a:ext cx="166797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48218" y="5934181"/>
            <a:ext cx="178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Anchor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9244" y="5920735"/>
            <a:ext cx="1146065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6128" y="5934181"/>
            <a:ext cx="1146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React Native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8873" y="5920735"/>
            <a:ext cx="130171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0784" y="5934181"/>
            <a:ext cx="1284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TypeScript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7767" y="5920735"/>
            <a:ext cx="193756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9176" y="5934181"/>
            <a:ext cx="19761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Solana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3717" y="5920735"/>
            <a:ext cx="153940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22512" y="5934181"/>
            <a:ext cx="1540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BOLT ECS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41508" y="5920735"/>
            <a:ext cx="119329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41508" y="5934181"/>
            <a:ext cx="11932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Download Dead Man's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Currently live on Solana Devnet. Mainnet launch with full app store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distribution coming soon.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Devnet APK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Test the full flow on Solana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Devnet. Requires a Solana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Mobile wallet.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Available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Open-source. MIT licensed.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Full Anchor program +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React Native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809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8092" y="5029200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Mainnet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Production release with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security audit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,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Immutable Solana Program and 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Google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Play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/Solana </a:t>
            </a:r>
            <a:r>
              <a:rPr lang="en-GB" sz="1200" b="0" dirty="0" err="1">
                <a:solidFill>
                  <a:srgbClr val="AAAAAA"/>
                </a:solidFill>
                <a:latin typeface="Calibri"/>
              </a:rPr>
              <a:t>dApp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distribution.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Coming Soon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Web: dmv.palatinearc.com   ·   GitHub: github.com/PalatineArcOrg/DMV   ·   APK: GitHub Releases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1153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 Durac</cp:lastModifiedBy>
  <cp:revision>16</cp:revision>
  <dcterms:created xsi:type="dcterms:W3CDTF">2013-01-27T09:14:16Z</dcterms:created>
  <dcterms:modified xsi:type="dcterms:W3CDTF">2026-03-09T14:09:33Z</dcterms:modified>
  <cp:category/>
</cp:coreProperties>
</file>